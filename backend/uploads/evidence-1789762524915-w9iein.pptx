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646920" y="256032"/>
            <a:ext cx="2148840" cy="411480"/>
          </a:xfrm>
          <a:prstGeom prst="roundRect">
            <a:avLst>
              <a:gd name="adj" fmla="val 17778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46920" y="2560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MAVRICKS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EAF0FC"/>
          </a:solidFill>
          <a:ln w="12700">
            <a:solidFill>
              <a:srgbClr val="C7D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923544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38912" y="923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9418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325880"/>
            <a:ext cx="32735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stack: React + Node.js + FastAPI + PostgreSQL — UI, workflow, DB, and AI cleanly separated</a:t>
            </a:r>
            <a:endParaRPr lang="en-US" sz="1050" dirty="0"/>
          </a:p>
          <a:p>
            <a:pPr algn="l"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MVP-ready AI: rule-based NLP + pattern matching — no GPU or massive datasets needed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51960" y="86868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EAF0FC"/>
          </a:solidFill>
          <a:ln w="12700">
            <a:solidFill>
              <a:srgbClr val="C7D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923544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25112" y="923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9418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Feasibility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453128" y="1325880"/>
            <a:ext cx="32735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ready: bootstrapped with curated capability profiles for institutions, experts, startups</a:t>
            </a:r>
            <a:endParaRPr lang="en-US" sz="1050" dirty="0"/>
          </a:p>
          <a:p>
            <a:pPr algn="l"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growth: structured schema, ready for future vector/LLM integration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868680"/>
            <a:ext cx="3657600" cy="1417320"/>
          </a:xfrm>
          <a:prstGeom prst="roundRect">
            <a:avLst>
              <a:gd name="adj" fmla="val 3871"/>
            </a:avLst>
          </a:prstGeom>
          <a:solidFill>
            <a:srgbClr val="EAF0FC"/>
          </a:solidFill>
          <a:ln w="12700">
            <a:solidFill>
              <a:srgbClr val="C7D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11312" y="923544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11312" y="923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9418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1325880"/>
            <a:ext cx="32735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AI classifies &amp; ranks; authorities validate before action</a:t>
            </a:r>
            <a:endParaRPr lang="en-US" sz="1050" dirty="0"/>
          </a:p>
          <a:p>
            <a:pPr algn="l"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RBAC: tailored dashboards for Citizens, Students, Universities, MSMEs, Govt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2423160"/>
            <a:ext cx="5577840" cy="1234440"/>
          </a:xfrm>
          <a:prstGeom prst="roundRect">
            <a:avLst>
              <a:gd name="adj" fmla="val 4444"/>
            </a:avLst>
          </a:prstGeom>
          <a:solidFill>
            <a:srgbClr val="EAF0FC"/>
          </a:solidFill>
          <a:ln w="12700">
            <a:solidFill>
              <a:srgbClr val="C7D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2478024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8912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249631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2880360"/>
            <a:ext cx="51937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core: 100% open-source stack on a standard cloud tier</a:t>
            </a:r>
            <a:endParaRPr lang="en-US" sz="1050" dirty="0"/>
          </a:p>
          <a:p>
            <a:pPr algn="l"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monetization: AI APIs &amp; SMS gateways plug in later — optional for the MVP demo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2423160"/>
            <a:ext cx="5577840" cy="1234440"/>
          </a:xfrm>
          <a:prstGeom prst="roundRect">
            <a:avLst>
              <a:gd name="adj" fmla="val 4444"/>
            </a:avLst>
          </a:prstGeom>
          <a:solidFill>
            <a:srgbClr val="EAF0FC"/>
          </a:solidFill>
          <a:ln w="12700">
            <a:solidFill>
              <a:srgbClr val="C7D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91072" y="2478024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91072" y="2478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249631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Sustainability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419088" y="2880360"/>
            <a:ext cx="519379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rollout: District → State → National deployment</a:t>
            </a:r>
            <a:endParaRPr lang="en-US" sz="1050" dirty="0"/>
          </a:p>
          <a:p>
            <a:pPr algn="l"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growth: new civic domains, AI models, GIS layers, and external registries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34838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&amp; MITIGATION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94760"/>
          <a:ext cx="11430000" cy="1600200"/>
        </p:xfrm>
        <a:graphic>
          <a:graphicData uri="http://schemas.openxmlformats.org/drawingml/2006/table">
            <a:tbl>
              <a:tblPr/>
              <a:tblGrid>
                <a:gridCol w="3291840"/>
                <a:gridCol w="8138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Classification Errors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thresholding + mandatory human sign-off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 Start (Low Data)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Curated seed profiles + progressive self-onboarding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/ Spam Reports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clustering + geo-fencing + community moderation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Popularity / Vote Bias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Multi-factor score: severity + urgency + evidence + community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C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&amp; Data Security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+ Role-Based Access Control (RBAC) + minimal PII storage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Shape 29"/>
          <p:cNvSpPr/>
          <p:nvPr/>
        </p:nvSpPr>
        <p:spPr>
          <a:xfrm>
            <a:off x="365760" y="5532120"/>
            <a:ext cx="11430000" cy="1097280"/>
          </a:xfrm>
          <a:prstGeom prst="roundRect">
            <a:avLst>
              <a:gd name="adj" fmla="val 5000"/>
            </a:avLst>
          </a:prstGeom>
          <a:solidFill>
            <a:srgbClr val="141B47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40080" y="564184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FORMULA 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Now  →  Low-Cost MVP  →  Human-Controlled  →  Modular Ecosystem  →  Scalable Architecture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   </a:t>
            </a:r>
            <a:pPr algn="ctr"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demonstrates rule-based AI with curated capability profiles — semantic vector search, fine-tuned LLMs, and real-time civic-portal API integration are scoped as Phase 2 extensions.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11521440" y="65379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2026-09-14T17:59:24Z</dcterms:created>
  <dcterms:modified xsi:type="dcterms:W3CDTF">2026-09-14T17:59:24Z</dcterms:modified>
</cp:coreProperties>
</file>