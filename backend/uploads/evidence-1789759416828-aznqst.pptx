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3232"/>
    <a:srgbClr val="9BBB59"/>
    <a:srgbClr val="39B0D4"/>
    <a:srgbClr val="727272"/>
    <a:srgbClr val="010000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jpg"/><Relationship Id="rId5" Type="http://schemas.openxmlformats.org/officeDocument/2006/relationships/image" Target="../media/image5.png"/><Relationship Id="rId10" Type="http://schemas.openxmlformats.org/officeDocument/2006/relationships/image" Target="../media/image10.jpg"/><Relationship Id="rId4" Type="http://schemas.openxmlformats.org/officeDocument/2006/relationships/image" Target="../media/image4.jpeg"/><Relationship Id="rId9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CivicSync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50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SIH26043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dirty="0"/>
              <a:t>A digital platform to crowdsource societal challenges and facilitate collaborative problem solving through universities and industry partnerships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SoftwareTeam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92319" y="192581"/>
            <a:ext cx="1809923" cy="80733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Mind </a:t>
            </a:r>
            <a:r>
              <a:rPr lang="en-IN" dirty="0" err="1"/>
              <a:t>Mavricks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1500"/>
            <a:ext cx="1971536" cy="93092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DF327CE6-2423-BADF-7105-82B1BDC100B7}"/>
              </a:ext>
            </a:extLst>
          </p:cNvPr>
          <p:cNvSpPr txBox="1"/>
          <p:nvPr/>
        </p:nvSpPr>
        <p:spPr>
          <a:xfrm>
            <a:off x="2551176" y="440469"/>
            <a:ext cx="1572768" cy="430887"/>
          </a:xfrm>
          <a:prstGeom prst="rect">
            <a:avLst/>
          </a:prstGeom>
          <a:ln/>
          <a:effectLst>
            <a:outerShdw blurRad="50800" dist="38100" dir="13500000" algn="br" rotWithShape="0">
              <a:prstClr val="black"/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CivicSync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DA14456-6F48-C06B-9134-336696051C35}"/>
              </a:ext>
            </a:extLst>
          </p:cNvPr>
          <p:cNvSpPr/>
          <p:nvPr/>
        </p:nvSpPr>
        <p:spPr>
          <a:xfrm>
            <a:off x="100584" y="1457215"/>
            <a:ext cx="5995415" cy="227145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F9EEFF-A059-9DF6-E07D-EC28393EB893}"/>
              </a:ext>
            </a:extLst>
          </p:cNvPr>
          <p:cNvSpPr txBox="1"/>
          <p:nvPr/>
        </p:nvSpPr>
        <p:spPr>
          <a:xfrm>
            <a:off x="329773" y="1584827"/>
            <a:ext cx="992964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Problem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0065C3-C290-CE24-853B-758FF016F077}"/>
              </a:ext>
            </a:extLst>
          </p:cNvPr>
          <p:cNvSpPr txBox="1"/>
          <p:nvPr/>
        </p:nvSpPr>
        <p:spPr>
          <a:xfrm>
            <a:off x="83305" y="1954159"/>
            <a:ext cx="6181344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0" marR="692150" indent="-285750">
              <a:lnSpc>
                <a:spcPct val="100000"/>
              </a:lnSpc>
              <a:spcBef>
                <a:spcPts val="1535"/>
              </a:spcBef>
              <a:buFont typeface="Wingdings"/>
              <a:buChar char=""/>
              <a:tabLst>
                <a:tab pos="298450" algn="l"/>
              </a:tabLst>
            </a:pPr>
            <a:r>
              <a:rPr lang="en-US" sz="1400" b="1" dirty="0"/>
              <a:t>Societal problems are scattered</a:t>
            </a:r>
            <a:r>
              <a:rPr lang="en-US" sz="1400" dirty="0"/>
              <a:t> across different platforms and communities.</a:t>
            </a:r>
            <a:r>
              <a:rPr lang="en-US" sz="1400" spc="-10" dirty="0">
                <a:latin typeface="Arial MT"/>
                <a:cs typeface="Arial MT"/>
              </a:rPr>
              <a:t>.</a:t>
            </a:r>
            <a:endParaRPr lang="en-US" sz="1400" dirty="0">
              <a:latin typeface="Arial MT"/>
              <a:cs typeface="Arial MT"/>
            </a:endParaRPr>
          </a:p>
          <a:p>
            <a:pPr marL="298450" marR="1064895" indent="-285750">
              <a:lnSpc>
                <a:spcPct val="100000"/>
              </a:lnSpc>
              <a:buFont typeface="Wingdings"/>
              <a:buChar char=""/>
              <a:tabLst>
                <a:tab pos="298450" algn="l"/>
              </a:tabLst>
            </a:pPr>
            <a:r>
              <a:rPr lang="en-US" sz="1400" b="1" dirty="0"/>
              <a:t>Citizens cannot easily find the right expertise</a:t>
            </a:r>
            <a:r>
              <a:rPr lang="en-US" sz="1400" dirty="0"/>
              <a:t> to solve their problems.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sz="1400" b="1" dirty="0"/>
              <a:t> No intelligent system connects problems with the right people and institutions.</a:t>
            </a:r>
            <a:r>
              <a:rPr lang="en-US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b="1" dirty="0"/>
              <a:t>Lack of collaboration and tracking</a:t>
            </a:r>
            <a:r>
              <a:rPr lang="en-US" sz="1400" dirty="0"/>
              <a:t> — There is no unified system to connect stakeholders, monitor solutions, and measure their real-world impact.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A772E1A-55A9-6575-1E90-2EF547ED27A7}"/>
              </a:ext>
            </a:extLst>
          </p:cNvPr>
          <p:cNvSpPr/>
          <p:nvPr/>
        </p:nvSpPr>
        <p:spPr>
          <a:xfrm>
            <a:off x="6095999" y="1457215"/>
            <a:ext cx="5995415" cy="227145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DC1C82-BD9F-C199-74E0-4B2C1A2DDB56}"/>
              </a:ext>
            </a:extLst>
          </p:cNvPr>
          <p:cNvSpPr txBox="1"/>
          <p:nvPr/>
        </p:nvSpPr>
        <p:spPr>
          <a:xfrm>
            <a:off x="6223398" y="1448071"/>
            <a:ext cx="58422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spc="-10" dirty="0">
                <a:latin typeface="Calibri"/>
                <a:cs typeface="Calibri"/>
              </a:rPr>
              <a:t>Challenges</a:t>
            </a:r>
            <a:r>
              <a:rPr lang="en-US" sz="2400" spc="-6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in</a:t>
            </a:r>
            <a:r>
              <a:rPr lang="en-US" sz="2400" spc="-10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Previous</a:t>
            </a:r>
            <a:r>
              <a:rPr lang="en-US" sz="2400" spc="-7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Systems</a:t>
            </a:r>
            <a:endParaRPr lang="en-US" sz="2400" dirty="0">
              <a:latin typeface="Calibri"/>
              <a:cs typeface="Calibri"/>
            </a:endParaRPr>
          </a:p>
          <a:p>
            <a:endParaRPr lang="en-US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257574-FEAD-B315-B086-84983C1FCD11}"/>
              </a:ext>
            </a:extLst>
          </p:cNvPr>
          <p:cNvSpPr txBox="1"/>
          <p:nvPr/>
        </p:nvSpPr>
        <p:spPr>
          <a:xfrm>
            <a:off x="5944628" y="2006740"/>
            <a:ext cx="6484086" cy="1859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7665" marR="300355" indent="-285750">
              <a:lnSpc>
                <a:spcPct val="100000"/>
              </a:lnSpc>
              <a:spcBef>
                <a:spcPts val="215"/>
              </a:spcBef>
              <a:buFont typeface="Wingdings"/>
              <a:buChar char=""/>
              <a:tabLst>
                <a:tab pos="367665" algn="l"/>
              </a:tabLst>
            </a:pPr>
            <a:r>
              <a:rPr lang="en-US" sz="1600" b="1" dirty="0">
                <a:solidFill>
                  <a:srgbClr val="FF0000"/>
                </a:solidFill>
              </a:rPr>
              <a:t>Fragmented platforms </a:t>
            </a:r>
            <a:r>
              <a:rPr lang="en-US" sz="1600" dirty="0">
                <a:latin typeface="Arial MT"/>
                <a:cs typeface="Arial MT"/>
              </a:rPr>
              <a:t>– </a:t>
            </a:r>
            <a:r>
              <a:rPr lang="en-US" sz="1600" dirty="0"/>
              <a:t>Problems and solutions remain scattered.</a:t>
            </a:r>
            <a:endParaRPr lang="en-US" sz="1600" dirty="0">
              <a:latin typeface="Arial MT"/>
              <a:cs typeface="Arial MT"/>
            </a:endParaRPr>
          </a:p>
          <a:p>
            <a:pPr marL="367665" indent="-285115">
              <a:lnSpc>
                <a:spcPct val="100000"/>
              </a:lnSpc>
              <a:spcBef>
                <a:spcPts val="120"/>
              </a:spcBef>
              <a:buFont typeface="Wingdings"/>
              <a:buChar char=""/>
              <a:tabLst>
                <a:tab pos="367665" algn="l"/>
              </a:tabLst>
            </a:pPr>
            <a:r>
              <a:rPr lang="en-US" sz="1600" b="1" dirty="0">
                <a:solidFill>
                  <a:srgbClr val="FF0000"/>
                </a:solidFill>
              </a:rPr>
              <a:t>Limited expert discovery </a:t>
            </a:r>
            <a:r>
              <a:rPr lang="en-US" sz="1600" dirty="0">
                <a:latin typeface="Arial MT"/>
                <a:cs typeface="Arial MT"/>
              </a:rPr>
              <a:t>–</a:t>
            </a:r>
            <a:r>
              <a:rPr lang="en-US" sz="1600" spc="-25" dirty="0">
                <a:latin typeface="Arial MT"/>
                <a:cs typeface="Arial MT"/>
              </a:rPr>
              <a:t> </a:t>
            </a:r>
            <a:r>
              <a:rPr lang="en-US" sz="1600" dirty="0"/>
              <a:t>Finding the right expertise is difficult</a:t>
            </a:r>
            <a:r>
              <a:rPr lang="en-US" sz="1600" spc="-10" dirty="0">
                <a:latin typeface="Arial MT"/>
                <a:cs typeface="Arial MT"/>
              </a:rPr>
              <a:t>.</a:t>
            </a:r>
            <a:endParaRPr lang="en-US" sz="1600" dirty="0">
              <a:latin typeface="Arial MT"/>
              <a:cs typeface="Arial MT"/>
            </a:endParaRPr>
          </a:p>
          <a:p>
            <a:pPr marL="367665" marR="847725" indent="-28575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67665" algn="l"/>
              </a:tabLst>
            </a:pPr>
            <a:r>
              <a:rPr lang="en-US" sz="1600" b="1" dirty="0">
                <a:solidFill>
                  <a:srgbClr val="FF0000"/>
                </a:solidFill>
              </a:rPr>
              <a:t>Poor collaboration tracking </a:t>
            </a:r>
            <a:r>
              <a:rPr lang="en-US" sz="1600" dirty="0">
                <a:latin typeface="Arial MT"/>
                <a:cs typeface="Arial MT"/>
              </a:rPr>
              <a:t>–</a:t>
            </a:r>
            <a:r>
              <a:rPr lang="en-US" sz="1600" spc="-20" dirty="0">
                <a:latin typeface="Arial MT"/>
                <a:cs typeface="Arial MT"/>
              </a:rPr>
              <a:t> </a:t>
            </a:r>
            <a:r>
              <a:rPr lang="en-US" sz="1600" dirty="0"/>
              <a:t>Limited follow-up from problem to implementation.</a:t>
            </a:r>
          </a:p>
          <a:p>
            <a:pPr marL="367665" marR="847725" indent="-28575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67665" algn="l"/>
              </a:tabLst>
            </a:pPr>
            <a:r>
              <a:rPr lang="en-US" sz="1600" b="1" dirty="0">
                <a:solidFill>
                  <a:srgbClr val="FF0000"/>
                </a:solidFill>
              </a:rPr>
              <a:t>Low scalability </a:t>
            </a:r>
            <a:r>
              <a:rPr lang="en-US" sz="1600" dirty="0">
                <a:latin typeface="Arial MT"/>
                <a:cs typeface="Arial MT"/>
              </a:rPr>
              <a:t>– </a:t>
            </a:r>
            <a:r>
              <a:rPr lang="en-US" sz="1600" dirty="0"/>
              <a:t>Difficult to connect citizens with diverse institutions and innovators.</a:t>
            </a:r>
            <a:endParaRPr lang="en-US" sz="1600" b="1" dirty="0">
              <a:solidFill>
                <a:srgbClr val="FF0000"/>
              </a:solidFill>
              <a:latin typeface="Arial MT"/>
              <a:cs typeface="Arial MT"/>
            </a:endParaRPr>
          </a:p>
          <a:p>
            <a:endParaRPr lang="en-US" dirty="0"/>
          </a:p>
        </p:txBody>
      </p:sp>
      <p:pic>
        <p:nvPicPr>
          <p:cNvPr id="51" name="Picture 50" descr="5 Problem-Solving Skills Employers Want In 2026 (With Examples)">
            <a:extLst>
              <a:ext uri="{FF2B5EF4-FFF2-40B4-BE49-F238E27FC236}">
                <a16:creationId xmlns:a16="http://schemas.microsoft.com/office/drawing/2014/main" id="{BF1DD7FC-A1B3-FF05-F94A-C341985BB3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319" y="3953580"/>
            <a:ext cx="1267872" cy="2313826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0D53B24E-D82C-6192-8A56-2257E02CA0DD}"/>
              </a:ext>
            </a:extLst>
          </p:cNvPr>
          <p:cNvSpPr/>
          <p:nvPr/>
        </p:nvSpPr>
        <p:spPr>
          <a:xfrm>
            <a:off x="100584" y="3728674"/>
            <a:ext cx="5995415" cy="2688857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1EDEC52-1B22-AB86-C93B-E0E116CF7765}"/>
              </a:ext>
            </a:extLst>
          </p:cNvPr>
          <p:cNvSpPr/>
          <p:nvPr/>
        </p:nvSpPr>
        <p:spPr>
          <a:xfrm>
            <a:off x="6095999" y="3737818"/>
            <a:ext cx="5995415" cy="2688857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DDD815B-8296-D033-44CA-35D113E6B899}"/>
              </a:ext>
            </a:extLst>
          </p:cNvPr>
          <p:cNvSpPr txBox="1"/>
          <p:nvPr/>
        </p:nvSpPr>
        <p:spPr>
          <a:xfrm>
            <a:off x="2361740" y="3780022"/>
            <a:ext cx="25973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Innovation &amp; Uniqueness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EF3FB8F-9708-73E6-036F-B3A0DCC22406}"/>
              </a:ext>
            </a:extLst>
          </p:cNvPr>
          <p:cNvSpPr txBox="1"/>
          <p:nvPr/>
        </p:nvSpPr>
        <p:spPr>
          <a:xfrm>
            <a:off x="1376230" y="4119197"/>
            <a:ext cx="4568398" cy="2508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300" b="1" dirty="0"/>
              <a:t>AI-powered problem understanding</a:t>
            </a:r>
            <a:r>
              <a:rPr lang="en-US" sz="1300" dirty="0"/>
              <a:t> — Automatically identifies domain, severity, urgency and required expertise.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300" b="1" dirty="0"/>
              <a:t>Multi-level expertise matching</a:t>
            </a:r>
            <a:r>
              <a:rPr lang="en-US" sz="1300" dirty="0"/>
              <a:t> — Connects problems with the right </a:t>
            </a:r>
            <a:r>
              <a:rPr lang="en-US" sz="1300" b="1" dirty="0"/>
              <a:t>institutions, faculty, students, researchers and startups/MSMEs</a:t>
            </a:r>
            <a:r>
              <a:rPr lang="en-US" sz="13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300" b="1" dirty="0"/>
              <a:t>Explainable recommendations</a:t>
            </a:r>
            <a:r>
              <a:rPr lang="en-US" sz="1300" dirty="0"/>
              <a:t> — Shows </a:t>
            </a:r>
            <a:r>
              <a:rPr lang="en-US" sz="1300" b="1" dirty="0"/>
              <a:t>why</a:t>
            </a:r>
            <a:r>
              <a:rPr lang="en-US" sz="1300" dirty="0"/>
              <a:t> a particular expert or institution is recommended.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300" b="1" dirty="0"/>
              <a:t>Problem-to-impact tracking</a:t>
            </a:r>
            <a:r>
              <a:rPr lang="en-US" sz="1300" dirty="0"/>
              <a:t> — Tracks the journey from </a:t>
            </a:r>
            <a:r>
              <a:rPr lang="en-US" sz="1300" b="1" dirty="0"/>
              <a:t>problem → solution → implementation → impact</a:t>
            </a:r>
            <a:r>
              <a:rPr lang="en-US" sz="13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300" b="1" dirty="0"/>
              <a:t>Unified societal innovation ecosystem</a:t>
            </a:r>
            <a:r>
              <a:rPr lang="en-US" sz="1300" dirty="0"/>
              <a:t> — Brings citizens and the complete innovation network onto one platform. </a:t>
            </a:r>
          </a:p>
          <a:p>
            <a:endParaRPr lang="en-US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1E3F1B8-6B80-E26C-7037-F6809BB49126}"/>
              </a:ext>
            </a:extLst>
          </p:cNvPr>
          <p:cNvSpPr txBox="1"/>
          <p:nvPr/>
        </p:nvSpPr>
        <p:spPr>
          <a:xfrm>
            <a:off x="8033304" y="3787477"/>
            <a:ext cx="222240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latin typeface="Arial"/>
                <a:cs typeface="Arial"/>
              </a:rPr>
              <a:t>Proposed</a:t>
            </a:r>
            <a:r>
              <a:rPr lang="en-US" b="1" spc="-30" dirty="0">
                <a:latin typeface="Arial"/>
                <a:cs typeface="Arial"/>
              </a:rPr>
              <a:t> </a:t>
            </a:r>
            <a:r>
              <a:rPr lang="en-US" b="1" spc="-10" dirty="0">
                <a:latin typeface="Arial"/>
                <a:cs typeface="Arial"/>
              </a:rPr>
              <a:t>Solution</a:t>
            </a:r>
            <a:endParaRPr lang="en-US" b="1" dirty="0">
              <a:latin typeface="Arial"/>
              <a:cs typeface="Arial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B4AE492-C8FB-D612-8256-4A067A096FC5}"/>
              </a:ext>
            </a:extLst>
          </p:cNvPr>
          <p:cNvSpPr txBox="1"/>
          <p:nvPr/>
        </p:nvSpPr>
        <p:spPr>
          <a:xfrm>
            <a:off x="6131677" y="4214793"/>
            <a:ext cx="595973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Crowdsource</a:t>
            </a:r>
            <a:r>
              <a:rPr lang="en-US" sz="1400" dirty="0"/>
              <a:t> real-world problems from citizens.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AI analyzes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and categorizes problems.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Identify required expertise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and resources.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Match</a:t>
            </a:r>
            <a:r>
              <a:rPr lang="en-US" sz="1400" dirty="0"/>
              <a:t> problems with suitable students, faculty, researchers, startups &amp; MSMEs.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Explainable recommendations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— show why the match is suitable.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Rewards &amp; recognition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for meaningful contributions and successful solutions.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Track impact</a:t>
            </a:r>
            <a:r>
              <a:rPr lang="en-US" sz="1400" dirty="0"/>
              <a:t> from problem → solution → outcome. </a:t>
            </a:r>
          </a:p>
          <a:p>
            <a:endParaRPr lang="en-US" sz="1400" b="1" dirty="0"/>
          </a:p>
        </p:txBody>
      </p:sp>
      <p:sp>
        <p:nvSpPr>
          <p:cNvPr id="15363" name="TextBox 15362">
            <a:extLst>
              <a:ext uri="{FF2B5EF4-FFF2-40B4-BE49-F238E27FC236}">
                <a16:creationId xmlns:a16="http://schemas.microsoft.com/office/drawing/2014/main" id="{5E716B7D-A102-11B7-A606-B6C283CB4659}"/>
              </a:ext>
            </a:extLst>
          </p:cNvPr>
          <p:cNvSpPr txBox="1"/>
          <p:nvPr/>
        </p:nvSpPr>
        <p:spPr>
          <a:xfrm>
            <a:off x="4197096" y="335751"/>
            <a:ext cx="6131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" Al-Powered Platform Connecting Societal Problems with the Right Expertise 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67F606-B7EA-6371-8C3F-FB32CCF11EB6}"/>
              </a:ext>
            </a:extLst>
          </p:cNvPr>
          <p:cNvSpPr txBox="1"/>
          <p:nvPr/>
        </p:nvSpPr>
        <p:spPr>
          <a:xfrm>
            <a:off x="420624" y="1679204"/>
            <a:ext cx="65928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Frontend: </a:t>
            </a:r>
            <a:r>
              <a:rPr lang="en-US" dirty="0">
                <a:latin typeface="Arial MT"/>
              </a:rPr>
              <a:t>HTML, Tailwind CSS, JavaScript, React.js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Backend: </a:t>
            </a:r>
            <a:r>
              <a:rPr lang="en-US" dirty="0"/>
              <a:t>No</a:t>
            </a:r>
            <a:r>
              <a:rPr lang="en-US" dirty="0">
                <a:latin typeface="Arial MT"/>
              </a:rPr>
              <a:t>de.js, Express.js, REST APIs, </a:t>
            </a:r>
            <a:r>
              <a:rPr lang="en-US" dirty="0" err="1">
                <a:latin typeface="Arial MT"/>
              </a:rPr>
              <a:t>bcrypt</a:t>
            </a:r>
            <a:r>
              <a:rPr lang="en-US" dirty="0">
                <a:latin typeface="Arial MT"/>
              </a:rPr>
              <a:t>,</a:t>
            </a:r>
          </a:p>
          <a:p>
            <a:r>
              <a:rPr lang="en-US" dirty="0">
                <a:latin typeface="Arial MT"/>
              </a:rPr>
              <a:t>                       RBAC(Role Based Access Control)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Database: </a:t>
            </a:r>
            <a:r>
              <a:rPr lang="en-US" dirty="0">
                <a:latin typeface="Arial MT"/>
              </a:rPr>
              <a:t>PostgreSQL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Authentication: </a:t>
            </a:r>
            <a:r>
              <a:rPr lang="en-US" dirty="0">
                <a:latin typeface="Arial MT"/>
              </a:rPr>
              <a:t>JWT Authentication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AI/Intelligence: </a:t>
            </a:r>
            <a:r>
              <a:rPr lang="en-US" dirty="0">
                <a:latin typeface="Arial MT"/>
              </a:rPr>
              <a:t>Python, </a:t>
            </a:r>
            <a:r>
              <a:rPr lang="en-US" dirty="0" err="1">
                <a:latin typeface="Arial MT"/>
              </a:rPr>
              <a:t>FastAPI</a:t>
            </a:r>
            <a:r>
              <a:rPr lang="en-US" dirty="0">
                <a:latin typeface="Arial MT"/>
              </a:rPr>
              <a:t>, Rule based NLP,</a:t>
            </a:r>
          </a:p>
          <a:p>
            <a:r>
              <a:rPr lang="en-US" dirty="0">
                <a:latin typeface="Arial MT"/>
              </a:rPr>
              <a:t>                                  Pattern Analysis, LLMs,</a:t>
            </a:r>
          </a:p>
          <a:p>
            <a:r>
              <a:rPr lang="en-US" dirty="0">
                <a:latin typeface="Arial MT"/>
              </a:rPr>
              <a:t>                                  Embeddings                           </a:t>
            </a:r>
          </a:p>
        </p:txBody>
      </p:sp>
      <p:pic>
        <p:nvPicPr>
          <p:cNvPr id="16" name="Picture 15" descr="What is React JS How it work &amp; Why to Choose React JS? - Britwise Technologies Pvt. Ltd.">
            <a:extLst>
              <a:ext uri="{FF2B5EF4-FFF2-40B4-BE49-F238E27FC236}">
                <a16:creationId xmlns:a16="http://schemas.microsoft.com/office/drawing/2014/main" id="{F3A75C5C-6073-BBDA-5B9A-464074DF6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931" y="5082320"/>
            <a:ext cx="1430846" cy="628176"/>
          </a:xfrm>
          <a:prstGeom prst="rect">
            <a:avLst/>
          </a:prstGeom>
        </p:spPr>
      </p:pic>
      <p:pic>
        <p:nvPicPr>
          <p:cNvPr id="19" name="Picture 18" descr="Rest API - Infoway Technologies">
            <a:extLst>
              <a:ext uri="{FF2B5EF4-FFF2-40B4-BE49-F238E27FC236}">
                <a16:creationId xmlns:a16="http://schemas.microsoft.com/office/drawing/2014/main" id="{F07D79D9-4FAC-655B-9737-5E7696EAB8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3663" y="5792659"/>
            <a:ext cx="894953" cy="509249"/>
          </a:xfrm>
          <a:prstGeom prst="rect">
            <a:avLst/>
          </a:prstGeom>
        </p:spPr>
      </p:pic>
      <p:pic>
        <p:nvPicPr>
          <p:cNvPr id="24" name="Picture 23" descr="PostgreSQL - Wikipedia">
            <a:extLst>
              <a:ext uri="{FF2B5EF4-FFF2-40B4-BE49-F238E27FC236}">
                <a16:creationId xmlns:a16="http://schemas.microsoft.com/office/drawing/2014/main" id="{07215D63-BF09-17ED-1516-6C17878806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1965" y="5625669"/>
            <a:ext cx="682519" cy="707395"/>
          </a:xfrm>
          <a:prstGeom prst="rect">
            <a:avLst/>
          </a:prstGeom>
        </p:spPr>
      </p:pic>
      <p:pic>
        <p:nvPicPr>
          <p:cNvPr id="25" name="Picture 24" descr="Python (programming language) - Wikipedia">
            <a:extLst>
              <a:ext uri="{FF2B5EF4-FFF2-40B4-BE49-F238E27FC236}">
                <a16:creationId xmlns:a16="http://schemas.microsoft.com/office/drawing/2014/main" id="{6CD9EC18-9D58-04DA-E9F2-729EE402B2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6279" y="5845001"/>
            <a:ext cx="423482" cy="423482"/>
          </a:xfrm>
          <a:prstGeom prst="rect">
            <a:avLst/>
          </a:prstGeom>
        </p:spPr>
      </p:pic>
      <p:pic>
        <p:nvPicPr>
          <p:cNvPr id="26" name="Picture 25" descr="👨🏼‍💻FastAPI | Review with a fast simple example | by Nabi Güzel | Huawei Developers | Medium">
            <a:extLst>
              <a:ext uri="{FF2B5EF4-FFF2-40B4-BE49-F238E27FC236}">
                <a16:creationId xmlns:a16="http://schemas.microsoft.com/office/drawing/2014/main" id="{CE0A792F-29D1-B9DA-032D-70E4080030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2225" y="5082320"/>
            <a:ext cx="1394286" cy="504437"/>
          </a:xfrm>
          <a:prstGeom prst="rect">
            <a:avLst/>
          </a:prstGeom>
        </p:spPr>
      </p:pic>
      <p:sp>
        <p:nvSpPr>
          <p:cNvPr id="31" name="Oval 30" descr="Your startup LOGO">
            <a:extLst>
              <a:ext uri="{FF2B5EF4-FFF2-40B4-BE49-F238E27FC236}">
                <a16:creationId xmlns:a16="http://schemas.microsoft.com/office/drawing/2014/main" id="{77D48EB0-2A31-A5EC-0E0E-4D90F317239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48644" y="161119"/>
            <a:ext cx="1809923" cy="80733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Mind </a:t>
            </a:r>
            <a:r>
              <a:rPr lang="en-IN" dirty="0" err="1"/>
              <a:t>Mavricks</a:t>
            </a:r>
            <a:endParaRPr lang="en-IN" dirty="0"/>
          </a:p>
        </p:txBody>
      </p:sp>
      <p:grpSp>
        <p:nvGrpSpPr>
          <p:cNvPr id="32" name="object 20">
            <a:extLst>
              <a:ext uri="{FF2B5EF4-FFF2-40B4-BE49-F238E27FC236}">
                <a16:creationId xmlns:a16="http://schemas.microsoft.com/office/drawing/2014/main" id="{0DFD3979-2646-4CAE-6EE6-EB4358918BB9}"/>
              </a:ext>
            </a:extLst>
          </p:cNvPr>
          <p:cNvGrpSpPr/>
          <p:nvPr/>
        </p:nvGrpSpPr>
        <p:grpSpPr>
          <a:xfrm>
            <a:off x="936296" y="1163512"/>
            <a:ext cx="2943987" cy="415671"/>
            <a:chOff x="806958" y="1080897"/>
            <a:chExt cx="2943987" cy="415671"/>
          </a:xfrm>
        </p:grpSpPr>
        <p:sp>
          <p:nvSpPr>
            <p:cNvPr id="33" name="object 21">
              <a:extLst>
                <a:ext uri="{FF2B5EF4-FFF2-40B4-BE49-F238E27FC236}">
                  <a16:creationId xmlns:a16="http://schemas.microsoft.com/office/drawing/2014/main" id="{74B5D062-72D3-BDAA-4116-34AF47AA7093}"/>
                </a:ext>
              </a:extLst>
            </p:cNvPr>
            <p:cNvSpPr/>
            <p:nvPr/>
          </p:nvSpPr>
          <p:spPr>
            <a:xfrm>
              <a:off x="806958" y="1149858"/>
              <a:ext cx="2895600" cy="346710"/>
            </a:xfrm>
            <a:custGeom>
              <a:avLst/>
              <a:gdLst/>
              <a:ahLst/>
              <a:cxnLst/>
              <a:rect l="l" t="t" r="r" b="b"/>
              <a:pathLst>
                <a:path w="2895600" h="346709">
                  <a:moveTo>
                    <a:pt x="2837815" y="0"/>
                  </a:moveTo>
                  <a:lnTo>
                    <a:pt x="57785" y="0"/>
                  </a:lnTo>
                  <a:lnTo>
                    <a:pt x="35291" y="4546"/>
                  </a:lnTo>
                  <a:lnTo>
                    <a:pt x="16924" y="16938"/>
                  </a:lnTo>
                  <a:lnTo>
                    <a:pt x="4540" y="35307"/>
                  </a:lnTo>
                  <a:lnTo>
                    <a:pt x="0" y="57785"/>
                  </a:lnTo>
                  <a:lnTo>
                    <a:pt x="0" y="288925"/>
                  </a:lnTo>
                  <a:lnTo>
                    <a:pt x="4540" y="311402"/>
                  </a:lnTo>
                  <a:lnTo>
                    <a:pt x="16924" y="329771"/>
                  </a:lnTo>
                  <a:lnTo>
                    <a:pt x="35291" y="342163"/>
                  </a:lnTo>
                  <a:lnTo>
                    <a:pt x="57785" y="346710"/>
                  </a:lnTo>
                  <a:lnTo>
                    <a:pt x="2837815" y="346710"/>
                  </a:lnTo>
                  <a:lnTo>
                    <a:pt x="2860292" y="342163"/>
                  </a:lnTo>
                  <a:lnTo>
                    <a:pt x="2878661" y="329771"/>
                  </a:lnTo>
                  <a:lnTo>
                    <a:pt x="2891053" y="311402"/>
                  </a:lnTo>
                  <a:lnTo>
                    <a:pt x="2895600" y="288925"/>
                  </a:lnTo>
                  <a:lnTo>
                    <a:pt x="2895600" y="57785"/>
                  </a:lnTo>
                  <a:lnTo>
                    <a:pt x="2891053" y="35307"/>
                  </a:lnTo>
                  <a:lnTo>
                    <a:pt x="2878661" y="16938"/>
                  </a:lnTo>
                  <a:lnTo>
                    <a:pt x="2860292" y="4546"/>
                  </a:lnTo>
                  <a:lnTo>
                    <a:pt x="2837815" y="0"/>
                  </a:lnTo>
                  <a:close/>
                </a:path>
              </a:pathLst>
            </a:custGeom>
            <a:solidFill>
              <a:srgbClr val="404040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22">
              <a:extLst>
                <a:ext uri="{FF2B5EF4-FFF2-40B4-BE49-F238E27FC236}">
                  <a16:creationId xmlns:a16="http://schemas.microsoft.com/office/drawing/2014/main" id="{10500025-D2E0-EE30-5048-946E62CC8461}"/>
                </a:ext>
              </a:extLst>
            </p:cNvPr>
            <p:cNvSpPr/>
            <p:nvPr/>
          </p:nvSpPr>
          <p:spPr>
            <a:xfrm>
              <a:off x="855345" y="1099185"/>
              <a:ext cx="2895600" cy="347980"/>
            </a:xfrm>
            <a:custGeom>
              <a:avLst/>
              <a:gdLst/>
              <a:ahLst/>
              <a:cxnLst/>
              <a:rect l="l" t="t" r="r" b="b"/>
              <a:pathLst>
                <a:path w="2895600" h="347980">
                  <a:moveTo>
                    <a:pt x="2837688" y="0"/>
                  </a:moveTo>
                  <a:lnTo>
                    <a:pt x="57912" y="0"/>
                  </a:lnTo>
                  <a:lnTo>
                    <a:pt x="35372" y="4548"/>
                  </a:lnTo>
                  <a:lnTo>
                    <a:pt x="16964" y="16954"/>
                  </a:lnTo>
                  <a:lnTo>
                    <a:pt x="4551" y="35361"/>
                  </a:lnTo>
                  <a:lnTo>
                    <a:pt x="0" y="57912"/>
                  </a:lnTo>
                  <a:lnTo>
                    <a:pt x="0" y="289560"/>
                  </a:lnTo>
                  <a:lnTo>
                    <a:pt x="4551" y="312110"/>
                  </a:lnTo>
                  <a:lnTo>
                    <a:pt x="16964" y="330517"/>
                  </a:lnTo>
                  <a:lnTo>
                    <a:pt x="35372" y="342923"/>
                  </a:lnTo>
                  <a:lnTo>
                    <a:pt x="57912" y="347472"/>
                  </a:lnTo>
                  <a:lnTo>
                    <a:pt x="2837688" y="347472"/>
                  </a:lnTo>
                  <a:lnTo>
                    <a:pt x="2860238" y="342923"/>
                  </a:lnTo>
                  <a:lnTo>
                    <a:pt x="2878645" y="330517"/>
                  </a:lnTo>
                  <a:lnTo>
                    <a:pt x="2891051" y="312110"/>
                  </a:lnTo>
                  <a:lnTo>
                    <a:pt x="2895600" y="289560"/>
                  </a:lnTo>
                  <a:lnTo>
                    <a:pt x="2895600" y="57912"/>
                  </a:lnTo>
                  <a:lnTo>
                    <a:pt x="2891051" y="35361"/>
                  </a:lnTo>
                  <a:lnTo>
                    <a:pt x="2878645" y="16954"/>
                  </a:lnTo>
                  <a:lnTo>
                    <a:pt x="2860238" y="4548"/>
                  </a:lnTo>
                  <a:lnTo>
                    <a:pt x="2837688" y="0"/>
                  </a:lnTo>
                  <a:close/>
                </a:path>
              </a:pathLst>
            </a:custGeom>
            <a:solidFill>
              <a:srgbClr val="FFFFF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r>
                <a:rPr lang="en-US" b="1" dirty="0">
                  <a:solidFill>
                    <a:srgbClr val="002060"/>
                  </a:solidFill>
                  <a:latin typeface="Arial"/>
                  <a:cs typeface="Arial"/>
                </a:rPr>
                <a:t>   TECHNOLOGY</a:t>
              </a:r>
              <a:r>
                <a:rPr lang="en-US" b="1" spc="434" dirty="0">
                  <a:solidFill>
                    <a:srgbClr val="002060"/>
                  </a:solidFill>
                  <a:latin typeface="Arial"/>
                  <a:cs typeface="Arial"/>
                </a:rPr>
                <a:t> </a:t>
              </a:r>
              <a:r>
                <a:rPr lang="en-US" b="1" spc="-20" dirty="0">
                  <a:solidFill>
                    <a:srgbClr val="002060"/>
                  </a:solidFill>
                  <a:latin typeface="Arial"/>
                  <a:cs typeface="Arial"/>
                </a:rPr>
                <a:t>STACK</a:t>
              </a:r>
              <a:endParaRPr lang="en-US" dirty="0">
                <a:solidFill>
                  <a:srgbClr val="002060"/>
                </a:solidFill>
                <a:latin typeface="Arial"/>
                <a:cs typeface="Arial"/>
              </a:endParaRPr>
            </a:p>
            <a:p>
              <a:endParaRPr dirty="0">
                <a:solidFill>
                  <a:srgbClr val="002060"/>
                </a:solidFill>
              </a:endParaRPr>
            </a:p>
          </p:txBody>
        </p:sp>
        <p:sp>
          <p:nvSpPr>
            <p:cNvPr id="35" name="object 23">
              <a:extLst>
                <a:ext uri="{FF2B5EF4-FFF2-40B4-BE49-F238E27FC236}">
                  <a16:creationId xmlns:a16="http://schemas.microsoft.com/office/drawing/2014/main" id="{F16C622B-2104-9C91-95D8-04A5209942CE}"/>
                </a:ext>
              </a:extLst>
            </p:cNvPr>
            <p:cNvSpPr/>
            <p:nvPr/>
          </p:nvSpPr>
          <p:spPr>
            <a:xfrm>
              <a:off x="855345" y="1080897"/>
              <a:ext cx="2895600" cy="347980"/>
            </a:xfrm>
            <a:custGeom>
              <a:avLst/>
              <a:gdLst/>
              <a:ahLst/>
              <a:cxnLst/>
              <a:rect l="l" t="t" r="r" b="b"/>
              <a:pathLst>
                <a:path w="2895600" h="347980">
                  <a:moveTo>
                    <a:pt x="0" y="57912"/>
                  </a:moveTo>
                  <a:lnTo>
                    <a:pt x="4551" y="35361"/>
                  </a:lnTo>
                  <a:lnTo>
                    <a:pt x="16964" y="16954"/>
                  </a:lnTo>
                  <a:lnTo>
                    <a:pt x="35372" y="4548"/>
                  </a:lnTo>
                  <a:lnTo>
                    <a:pt x="57912" y="0"/>
                  </a:lnTo>
                  <a:lnTo>
                    <a:pt x="2837688" y="0"/>
                  </a:lnTo>
                  <a:lnTo>
                    <a:pt x="2860238" y="4548"/>
                  </a:lnTo>
                  <a:lnTo>
                    <a:pt x="2878645" y="16954"/>
                  </a:lnTo>
                  <a:lnTo>
                    <a:pt x="2891051" y="35361"/>
                  </a:lnTo>
                  <a:lnTo>
                    <a:pt x="2895600" y="57912"/>
                  </a:lnTo>
                  <a:lnTo>
                    <a:pt x="2895600" y="289560"/>
                  </a:lnTo>
                  <a:lnTo>
                    <a:pt x="2891051" y="312110"/>
                  </a:lnTo>
                  <a:lnTo>
                    <a:pt x="2878645" y="330517"/>
                  </a:lnTo>
                  <a:lnTo>
                    <a:pt x="2860238" y="342923"/>
                  </a:lnTo>
                  <a:lnTo>
                    <a:pt x="2837688" y="347472"/>
                  </a:lnTo>
                  <a:lnTo>
                    <a:pt x="57912" y="347472"/>
                  </a:lnTo>
                  <a:lnTo>
                    <a:pt x="35372" y="342923"/>
                  </a:lnTo>
                  <a:lnTo>
                    <a:pt x="16964" y="330517"/>
                  </a:lnTo>
                  <a:lnTo>
                    <a:pt x="4551" y="312110"/>
                  </a:lnTo>
                  <a:lnTo>
                    <a:pt x="0" y="289560"/>
                  </a:lnTo>
                  <a:lnTo>
                    <a:pt x="0" y="57912"/>
                  </a:lnTo>
                  <a:close/>
                </a:path>
              </a:pathLst>
            </a:custGeom>
            <a:ln w="25146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8" name="object 27">
            <a:extLst>
              <a:ext uri="{FF2B5EF4-FFF2-40B4-BE49-F238E27FC236}">
                <a16:creationId xmlns:a16="http://schemas.microsoft.com/office/drawing/2014/main" id="{1F435096-63DF-595A-E005-1F92C05E983D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41783" y="5058461"/>
            <a:ext cx="1790700" cy="675894"/>
          </a:xfrm>
          <a:prstGeom prst="rect">
            <a:avLst/>
          </a:prstGeom>
        </p:spPr>
      </p:pic>
      <p:pic>
        <p:nvPicPr>
          <p:cNvPr id="40" name="object 40">
            <a:extLst>
              <a:ext uri="{FF2B5EF4-FFF2-40B4-BE49-F238E27FC236}">
                <a16:creationId xmlns:a16="http://schemas.microsoft.com/office/drawing/2014/main" id="{286E92F3-AFE6-E207-45AC-0BA3ED3F9B9F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7697" y="5840830"/>
            <a:ext cx="1075944" cy="390906"/>
          </a:xfrm>
          <a:prstGeom prst="rect">
            <a:avLst/>
          </a:prstGeom>
        </p:spPr>
      </p:pic>
      <p:pic>
        <p:nvPicPr>
          <p:cNvPr id="42" name="object 25">
            <a:extLst>
              <a:ext uri="{FF2B5EF4-FFF2-40B4-BE49-F238E27FC236}">
                <a16:creationId xmlns:a16="http://schemas.microsoft.com/office/drawing/2014/main" id="{9B4FD8C3-BD5F-AF03-174B-BCC2B3E37512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55266" y="5949329"/>
            <a:ext cx="1006602" cy="273558"/>
          </a:xfrm>
          <a:prstGeom prst="rect">
            <a:avLst/>
          </a:prstGeom>
        </p:spPr>
      </p:pic>
      <p:grpSp>
        <p:nvGrpSpPr>
          <p:cNvPr id="43" name="object 2">
            <a:extLst>
              <a:ext uri="{FF2B5EF4-FFF2-40B4-BE49-F238E27FC236}">
                <a16:creationId xmlns:a16="http://schemas.microsoft.com/office/drawing/2014/main" id="{2E90CCCD-F18F-2DD4-631B-34FCF75483B9}"/>
              </a:ext>
            </a:extLst>
          </p:cNvPr>
          <p:cNvGrpSpPr/>
          <p:nvPr/>
        </p:nvGrpSpPr>
        <p:grpSpPr>
          <a:xfrm>
            <a:off x="8311719" y="1232473"/>
            <a:ext cx="2125980" cy="384810"/>
            <a:chOff x="8013192" y="723137"/>
            <a:chExt cx="2125980" cy="384810"/>
          </a:xfrm>
        </p:grpSpPr>
        <p:pic>
          <p:nvPicPr>
            <p:cNvPr id="44" name="object 3">
              <a:extLst>
                <a:ext uri="{FF2B5EF4-FFF2-40B4-BE49-F238E27FC236}">
                  <a16:creationId xmlns:a16="http://schemas.microsoft.com/office/drawing/2014/main" id="{D7CE08CC-3868-1883-6487-1BF1575A96BF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25384" y="735329"/>
              <a:ext cx="2101215" cy="360044"/>
            </a:xfrm>
            <a:prstGeom prst="rect">
              <a:avLst/>
            </a:prstGeom>
          </p:spPr>
        </p:pic>
        <p:sp>
          <p:nvSpPr>
            <p:cNvPr id="45" name="object 4">
              <a:extLst>
                <a:ext uri="{FF2B5EF4-FFF2-40B4-BE49-F238E27FC236}">
                  <a16:creationId xmlns:a16="http://schemas.microsoft.com/office/drawing/2014/main" id="{6B756C9D-1E67-DC4C-7C8B-D048917C23F0}"/>
                </a:ext>
              </a:extLst>
            </p:cNvPr>
            <p:cNvSpPr/>
            <p:nvPr/>
          </p:nvSpPr>
          <p:spPr>
            <a:xfrm>
              <a:off x="8025765" y="735710"/>
              <a:ext cx="2101215" cy="360045"/>
            </a:xfrm>
            <a:custGeom>
              <a:avLst/>
              <a:gdLst/>
              <a:ahLst/>
              <a:cxnLst/>
              <a:rect l="l" t="t" r="r" b="b"/>
              <a:pathLst>
                <a:path w="2101215" h="360044">
                  <a:moveTo>
                    <a:pt x="0" y="59944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2040889" y="0"/>
                  </a:lnTo>
                  <a:lnTo>
                    <a:pt x="2064240" y="4704"/>
                  </a:lnTo>
                  <a:lnTo>
                    <a:pt x="2083292" y="17541"/>
                  </a:lnTo>
                  <a:lnTo>
                    <a:pt x="2096129" y="36593"/>
                  </a:lnTo>
                  <a:lnTo>
                    <a:pt x="2100834" y="59944"/>
                  </a:lnTo>
                  <a:lnTo>
                    <a:pt x="2100834" y="299720"/>
                  </a:lnTo>
                  <a:lnTo>
                    <a:pt x="2096129" y="323070"/>
                  </a:lnTo>
                  <a:lnTo>
                    <a:pt x="2083292" y="342122"/>
                  </a:lnTo>
                  <a:lnTo>
                    <a:pt x="2064240" y="354959"/>
                  </a:lnTo>
                  <a:lnTo>
                    <a:pt x="2040889" y="359664"/>
                  </a:lnTo>
                  <a:lnTo>
                    <a:pt x="59944" y="359664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20"/>
                  </a:lnTo>
                  <a:lnTo>
                    <a:pt x="0" y="59944"/>
                  </a:lnTo>
                  <a:close/>
                </a:path>
              </a:pathLst>
            </a:custGeom>
            <a:ln w="25146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587FF93A-579F-461C-6F4B-CDC7F1FB8BBC}"/>
              </a:ext>
            </a:extLst>
          </p:cNvPr>
          <p:cNvSpPr txBox="1"/>
          <p:nvPr/>
        </p:nvSpPr>
        <p:spPr>
          <a:xfrm>
            <a:off x="8230592" y="1245046"/>
            <a:ext cx="21709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b="1" spc="-20" dirty="0">
                <a:latin typeface="Calibri"/>
                <a:cs typeface="Calibri"/>
              </a:rPr>
              <a:t>SYSTEM</a:t>
            </a:r>
            <a:r>
              <a:rPr lang="en-US" sz="1600" b="1" spc="-50" dirty="0">
                <a:latin typeface="Calibri"/>
                <a:cs typeface="Calibri"/>
              </a:rPr>
              <a:t> </a:t>
            </a:r>
            <a:r>
              <a:rPr lang="en-US" sz="1600" b="1" spc="-10" dirty="0">
                <a:latin typeface="Calibri"/>
                <a:cs typeface="Calibri"/>
              </a:rPr>
              <a:t>ARCHITECTURE</a:t>
            </a:r>
            <a:endParaRPr lang="en-US"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7921</TotalTime>
  <Words>624</Words>
  <Application>Microsoft Office PowerPoint</Application>
  <PresentationFormat>Widescreen</PresentationFormat>
  <Paragraphs>91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ＭＳ Ｐゴシック</vt:lpstr>
      <vt:lpstr>Arial</vt:lpstr>
      <vt:lpstr>Arial MT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PowerPoint Presentation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Madhav Raj</cp:lastModifiedBy>
  <cp:revision>149</cp:revision>
  <dcterms:created xsi:type="dcterms:W3CDTF">2013-12-12T18:46:50Z</dcterms:created>
  <dcterms:modified xsi:type="dcterms:W3CDTF">2026-09-10T21:05:15Z</dcterms:modified>
  <cp:category/>
</cp:coreProperties>
</file>